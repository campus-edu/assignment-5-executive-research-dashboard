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B5563"/>
                </a:solidFill>
                <a:latin typeface="Georgia"/>
              </a:defRPr>
            </a:pPr>
            <a:r>
              <a:t>AI.135 APPLIED AI IN BUSINESS RESEARCH // REGULATORY IMPACT ANALYSIS</a:t>
            </a:r>
          </a:p>
          <a:p>
            <a:pPr>
              <a:spcBef>
                <a:spcPts val="1000"/>
              </a:spcBef>
              <a:defRPr sz="3000" b="1">
                <a:solidFill>
                  <a:srgbClr val="111827"/>
                </a:solidFill>
                <a:latin typeface="Georgia"/>
              </a:defRPr>
            </a:pPr>
            <a:r>
              <a:t>Regulatory Impact Analysis: Three-State Expansion Feasibility</a:t>
            </a:r>
          </a:p>
          <a:p>
            <a:pPr>
              <a:spcBef>
                <a:spcPts val="800"/>
              </a:spcBef>
              <a:defRPr sz="1600" i="1">
                <a:solidFill>
                  <a:srgbClr val="1F2937"/>
                </a:solidFill>
                <a:latin typeface="Georgia"/>
              </a:defRPr>
            </a:pPr>
            <a:r>
              <a:t>A Multi-Jurisdictional Legal &amp; Operational Assessment for QuickBite Technologies, Inc.</a:t>
            </a:r>
          </a:p>
          <a:p>
            <a:pPr>
              <a:spcBef>
                <a:spcPts val="2400"/>
              </a:spcBef>
              <a:defRPr sz="1200">
                <a:solidFill>
                  <a:srgbClr val="4B5563"/>
                </a:solidFill>
              </a:defRPr>
            </a:pPr>
            <a:r>
              <a:t>Author: Jason Orozco Zarco, Head of Legal &amp; Compliance  |  Primary Recipients: José Rodriguez (CFO), Helene Chen (CEO)</a:t>
            </a:r>
            <a:br/>
            <a:r>
              <a:t>Academic Term: Winter 2026  |  Due Date: March 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B5563"/>
                </a:solidFill>
                <a:latin typeface="Georgia"/>
              </a:defRPr>
            </a:pPr>
            <a:r>
              <a:t>PART I // SLIDE 1: MULTI-JURISDICTIONAL REGULATORY COMPARISON MATRIX</a:t>
            </a:r>
          </a:p>
          <a:p>
            <a:pPr>
              <a:defRPr sz="1900" b="1">
                <a:solidFill>
                  <a:srgbClr val="111827"/>
                </a:solidFill>
                <a:latin typeface="Georgia"/>
              </a:defRPr>
            </a:pPr>
            <a:r>
              <a:t>Comparative Compliance Profile Across Target Jurisdictions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9167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026664"/>
                <a:gridCol w="3026664"/>
                <a:gridCol w="3026664"/>
              </a:tblGrid>
              <a:tr h="1257300"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111827"/>
                          </a:solidFill>
                          <a:latin typeface="Georgia"/>
                        </a:defRPr>
                      </a:pPr>
                      <a:r>
                        <a:t>Compliance Area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111827"/>
                          </a:solidFill>
                          <a:latin typeface="Georgia"/>
                        </a:defRPr>
                      </a:pPr>
                      <a:r>
                        <a:t>Texas (Rank #1) — Score: 9.4 / 10</a:t>
                      </a:r>
                      <a:br/>
                      <a:r>
                        <a:t>[Optimal Initial Target]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111827"/>
                          </a:solidFill>
                          <a:latin typeface="Georgia"/>
                        </a:defRPr>
                      </a:pPr>
                      <a:r>
                        <a:t>Florida (Rank #2) — Score: 8.1 / 10</a:t>
                      </a:r>
                      <a:br/>
                      <a:r>
                        <a:t>[Secondary Expansion Horizon]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111827"/>
                          </a:solidFill>
                          <a:latin typeface="Georgia"/>
                        </a:defRPr>
                      </a:pPr>
                      <a:r>
                        <a:t>California (Rank #3) — Score: 4.2 / 10</a:t>
                      </a:r>
                      <a:br/>
                      <a:r>
                        <a:t>[High Friction / Deferred Entry]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1257300">
                <a:tc>
                  <a:txBody>
                    <a:bodyPr wrap="square"/>
                    <a:lstStyle/>
                    <a:p>
                      <a:pPr>
                        <a:defRPr sz="880" b="1">
                          <a:solidFill>
                            <a:srgbClr val="1F2937"/>
                          </a:solidFill>
                        </a:defRPr>
                      </a:pPr>
                      <a:r>
                        <a:t>1. Driver Classification</a:t>
                      </a:r>
                      <a:br/>
                      <a:r>
                        <a:t>(Labor &amp; Benefits)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80">
                          <a:solidFill>
                            <a:srgbClr val="1F2937"/>
                          </a:solidFill>
                        </a:defRPr>
                      </a:pPr>
                      <a:r>
                        <a:t>• Authority: Tex. Lab. Code § 201.041; HB 2127</a:t>
                      </a:r>
                      <a:br/>
                      <a:r>
                        <a:t>• Rule: Common-law 20-factor control test</a:t>
                      </a:r>
                      <a:br/>
                      <a:r>
                        <a:t>• Mandates: Zero state healthcare or wage floors</a:t>
                      </a:r>
                      <a:br/>
                      <a:r>
                        <a:t>• Impact: 48-hr courier onboarding; $4.85 unit cost</a:t>
                      </a:r>
                      <a:br/>
                      <a:r>
                        <a:t>• Status: LOW BURDEN (1099 Protected)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80">
                          <a:solidFill>
                            <a:srgbClr val="1F2937"/>
                          </a:solidFill>
                        </a:defRPr>
                      </a:pPr>
                      <a:r>
                        <a:t>• Authority: Fla. Stat. § 443.036(19) &amp; § 448.110</a:t>
                      </a:r>
                      <a:br/>
                      <a:r>
                        <a:t>• Rule: Common law right-to-control standard</a:t>
                      </a:r>
                      <a:br/>
                      <a:r>
                        <a:t>• Mandates: Clean 1099 IC model; wage bills failed</a:t>
                      </a:r>
                      <a:br/>
                      <a:r>
                        <a:t>• Impact: Zero benefit load; streamlined onboarding</a:t>
                      </a:r>
                      <a:br/>
                      <a:r>
                        <a:t>• Status: LOW BURDEN (1099 Protected)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80">
                          <a:solidFill>
                            <a:srgbClr val="1F2937"/>
                          </a:solidFill>
                        </a:defRPr>
                      </a:pPr>
                      <a:r>
                        <a:t>• Authority: Cal. Bus. &amp; Prof. Code § 7451 (Prop 22)</a:t>
                      </a:r>
                      <a:br/>
                      <a:r>
                        <a:t>• Mandates: 120% min wage active floor, $0.35/mi auto, healthcare subsidies, $1M accident ins.</a:t>
                      </a:r>
                      <a:br/>
                      <a:r>
                        <a:t>• Impact: Adds $3.10–$4.40 direct cost per delivery</a:t>
                      </a:r>
                      <a:br/>
                      <a:r>
                        <a:t>• Status: HIGH BURDEN (Severe Margin Drag)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57300">
                <a:tc>
                  <a:txBody>
                    <a:bodyPr wrap="square"/>
                    <a:lstStyle/>
                    <a:p>
                      <a:pPr>
                        <a:defRPr sz="880" b="1">
                          <a:solidFill>
                            <a:srgbClr val="1F2937"/>
                          </a:solidFill>
                        </a:defRPr>
                      </a:pPr>
                      <a:r>
                        <a:t>2. Food Safety &amp; Licensing</a:t>
                      </a:r>
                      <a:br/>
                      <a:r>
                        <a:t>(Transit Health Rules)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80">
                          <a:solidFill>
                            <a:srgbClr val="1F2937"/>
                          </a:solidFill>
                        </a:defRPr>
                      </a:pPr>
                      <a:r>
                        <a:t>• Authority: 25 TAC § 228 (TFER); Health Code Ch. 437</a:t>
                      </a:r>
                      <a:br/>
                      <a:r>
                        <a:t>• Rule: Sealed meals exempt couriers from food cards</a:t>
                      </a:r>
                      <a:br/>
                      <a:r>
                        <a:t>• Sanitation: Cold &lt;41°F / Hot &gt;135°F thermal rules</a:t>
                      </a:r>
                      <a:br/>
                      <a:r>
                        <a:t>• Status: LOW BURDEN (Standard Packaging)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80">
                          <a:solidFill>
                            <a:srgbClr val="1F2937"/>
                          </a:solidFill>
                        </a:defRPr>
                      </a:pPr>
                      <a:r>
                        <a:t>• Authority: Fla. Stat. Ch. 500 (FDACS) &amp; Ch. 509</a:t>
                      </a:r>
                      <a:br/>
                      <a:r>
                        <a:t>• Rule: Insulated transit bags; DBPR digital audits</a:t>
                      </a:r>
                      <a:br/>
                      <a:r>
                        <a:t>• Sanitation: Sealed containers trigger no driver card</a:t>
                      </a:r>
                      <a:br/>
                      <a:r>
                        <a:t>• Status: LOW-MEDIUM BURDEN (Low Friction)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80">
                          <a:solidFill>
                            <a:srgbClr val="1F2937"/>
                          </a:solidFill>
                        </a:defRPr>
                      </a:pPr>
                      <a:r>
                        <a:t>• Authority: CalCode (§ 113700+); AB 2149</a:t>
                      </a:r>
                      <a:br/>
                      <a:r>
                        <a:t>• Rule: Express written merchant contract required</a:t>
                      </a:r>
                      <a:br/>
                      <a:r>
                        <a:t>• Sanitation: Tamper-evident seals; refund liability</a:t>
                      </a:r>
                      <a:br/>
                      <a:r>
                        <a:t>• Status: MEDIUM-HIGH BURDEN (Legal Friction)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57300">
                <a:tc>
                  <a:txBody>
                    <a:bodyPr wrap="square"/>
                    <a:lstStyle/>
                    <a:p>
                      <a:pPr>
                        <a:defRPr sz="880" b="1">
                          <a:solidFill>
                            <a:srgbClr val="1F2937"/>
                          </a:solidFill>
                        </a:defRPr>
                      </a:pPr>
                      <a:r>
                        <a:t>3. Business Ops &amp; Tax</a:t>
                      </a:r>
                      <a:br/>
                      <a:r>
                        <a:t>(Marketplace Tax &amp; Caps)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80">
                          <a:solidFill>
                            <a:srgbClr val="1F2937"/>
                          </a:solidFill>
                        </a:defRPr>
                      </a:pPr>
                      <a:r>
                        <a:t>• Authority: Tex. Tax Code § 151.0242; 34 TAC § 3.286</a:t>
                      </a:r>
                      <a:br/>
                      <a:r>
                        <a:t>• Tax: Unified 6.25% state + up to 2% local sales tax</a:t>
                      </a:r>
                      <a:br/>
                      <a:r>
                        <a:t>• Caps: State statute bars municipal fee caps</a:t>
                      </a:r>
                      <a:br/>
                      <a:r>
                        <a:t>• Status: LOW BURDEN (Unified Tax Return)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80">
                          <a:solidFill>
                            <a:srgbClr val="1F2937"/>
                          </a:solidFill>
                        </a:defRPr>
                      </a:pPr>
                      <a:r>
                        <a:t>• Authority: Fla. Stat. § 212.0596; Fla. Stat. Ch. 205</a:t>
                      </a:r>
                      <a:br/>
                      <a:r>
                        <a:t>• Tax: 6.0% state + 67 county surtaxes (0.5%–1.5%)</a:t>
                      </a:r>
                      <a:br/>
                      <a:r>
                        <a:t>• Caps: County-level LBTR registration required</a:t>
                      </a:r>
                      <a:br/>
                      <a:r>
                        <a:t>• Status: MEDIUM BURDEN (County Nexus)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80">
                          <a:solidFill>
                            <a:srgbClr val="1F2937"/>
                          </a:solidFill>
                        </a:defRPr>
                      </a:pPr>
                      <a:r>
                        <a:t>• Authority: Cal. Rev. &amp; Tax § 6041; SF Police Art. 53</a:t>
                      </a:r>
                      <a:br/>
                      <a:r>
                        <a:t>• Tax: 7.25% base + local district taxes to 10.75%</a:t>
                      </a:r>
                      <a:br/>
                      <a:r>
                        <a:t>• Caps: 15% municipal delivery fee caps compress take</a:t>
                      </a:r>
                      <a:br/>
                      <a:r>
                        <a:t>• Status: HIGH BURDEN (Take-Rate Ceiling)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B5563"/>
                </a:solidFill>
                <a:latin typeface="Georgia"/>
              </a:defRPr>
            </a:pPr>
            <a:r>
              <a:t>PART I // SLIDE 2: STRATEGIC RECOMMENDATION</a:t>
            </a:r>
          </a:p>
          <a:p>
            <a:pPr>
              <a:defRPr sz="1900" b="1">
                <a:solidFill>
                  <a:srgbClr val="111827"/>
                </a:solidFill>
                <a:latin typeface="Georgia"/>
              </a:defRPr>
            </a:pPr>
            <a:r>
              <a:t>Optimal Expansion Target: Dallas-Fort Worth Metropolitan Area, Texas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356616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150" b="1">
                <a:solidFill>
                  <a:srgbClr val="111827"/>
                </a:solidFill>
                <a:latin typeface="Georgia"/>
              </a:defRPr>
            </a:pPr>
            <a:r>
              <a:t>1. Labor Agility &amp; Margin Protection</a:t>
            </a:r>
          </a:p>
          <a:p>
            <a:pPr>
              <a:spcBef>
                <a:spcPts val="800"/>
              </a:spcBef>
              <a:defRPr sz="950">
                <a:solidFill>
                  <a:srgbClr val="1F2937"/>
                </a:solidFill>
              </a:defRPr>
            </a:pPr>
            <a:r>
              <a:t>• Texas Labor Code § 201.041 provides an unambiguous right-to-control standard.</a:t>
            </a:r>
            <a:br/>
            <a:r>
              <a:t>• 48-hour driver onboarding without mandatory healthcare stipends or active-hour pay floors.</a:t>
            </a:r>
            <a:br/>
            <a:r>
              <a:t>• Preserves QuickBite's $4.85 unit fulfillment cost vs. $7.95 in California.</a:t>
            </a:r>
            <a:br/>
            <a:r>
              <a:t>• Unit Contribution Margin remains protected at 31%.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79" y="1371600"/>
            <a:ext cx="356616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150" b="1">
                <a:solidFill>
                  <a:srgbClr val="111827"/>
                </a:solidFill>
                <a:latin typeface="Georgia"/>
              </a:defRPr>
            </a:pPr>
            <a:r>
              <a:t>2. Infrastructure &amp; Licensing Continuity</a:t>
            </a:r>
          </a:p>
          <a:p>
            <a:pPr>
              <a:spcBef>
                <a:spcPts val="800"/>
              </a:spcBef>
              <a:defRPr sz="950">
                <a:solidFill>
                  <a:srgbClr val="1F2937"/>
                </a:solidFill>
              </a:defRPr>
            </a:pPr>
            <a:r>
              <a:t>• Shared regulatory framework under Texas Food Establishment Rules (25 TAC § 228).</a:t>
            </a:r>
            <a:br/>
            <a:r>
              <a:t>• Single Texas Comptroller marketplace return under Tex. Tax Code § 151.0242.</a:t>
            </a:r>
            <a:br/>
            <a:r>
              <a:t>• Eliminates out-of-state corporate registrations and dual-state tax reconciliation.</a:t>
            </a:r>
            <a:br/>
            <a:r>
              <a:t>• Time to market: 45 days vs. 180+ days in California.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19" y="1371600"/>
            <a:ext cx="356616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150" b="1">
                <a:solidFill>
                  <a:srgbClr val="111827"/>
                </a:solidFill>
                <a:latin typeface="Georgia"/>
              </a:defRPr>
            </a:pPr>
            <a:r>
              <a:t>3. Capital Efficiency &amp; AI Synergy</a:t>
            </a:r>
          </a:p>
          <a:p>
            <a:pPr>
              <a:spcBef>
                <a:spcPts val="800"/>
              </a:spcBef>
              <a:defRPr sz="950">
                <a:solidFill>
                  <a:srgbClr val="1F2937"/>
                </a:solidFill>
              </a:defRPr>
            </a:pPr>
            <a:r>
              <a:t>• Dallas requires only $800,000 in growth capital to achieve marketplace liquidity.</a:t>
            </a:r>
            <a:br/>
            <a:r>
              <a:t>• Preserves $1,200,000 of Series A funding to engineer Austin AI dispatch batch-routing.</a:t>
            </a:r>
            <a:br/>
            <a:r>
              <a:t>• Bypasses California's $2,500,000 regulatory entry barrier and legal overhead.</a:t>
            </a:r>
            <a:br/>
            <a:r>
              <a:t>• Accelerates company-wide cash flow breakeven to Month 16.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4983480"/>
          <a:ext cx="1109167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221992"/>
                <a:gridCol w="2221992"/>
                <a:gridCol w="2221992"/>
                <a:gridCol w="2231136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11827"/>
                          </a:solidFill>
                          <a:latin typeface="Georgia"/>
                        </a:defRPr>
                      </a:pPr>
                      <a:r>
                        <a:t>Strategic Metric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11827"/>
                          </a:solidFill>
                          <a:latin typeface="Georgia"/>
                        </a:defRPr>
                      </a:pPr>
                      <a:r>
                        <a:t>Texas (Dallas)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11827"/>
                          </a:solidFill>
                          <a:latin typeface="Georgia"/>
                        </a:defRPr>
                      </a:pPr>
                      <a:r>
                        <a:t>Florida (Miami/Orlando)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11827"/>
                          </a:solidFill>
                          <a:latin typeface="Georgia"/>
                        </a:defRPr>
                      </a:pPr>
                      <a:r>
                        <a:t>California (LA/SF)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11827"/>
                          </a:solidFill>
                          <a:latin typeface="Georgia"/>
                        </a:defRPr>
                      </a:pPr>
                      <a:r>
                        <a:t>QuickBite Advantage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F2937"/>
                          </a:solidFill>
                        </a:defRPr>
                      </a:pPr>
                      <a:r>
                        <a:t>Dallas vs. Horizons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F2937"/>
                          </a:solidFill>
                        </a:defRPr>
                      </a:pPr>
                      <a:r>
                        <a:t>$800K | $4.85 Unit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F2937"/>
                          </a:solidFill>
                        </a:defRPr>
                      </a:pPr>
                      <a:r>
                        <a:t>$1.4M | $5.10 Unit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F2937"/>
                          </a:solidFill>
                        </a:defRPr>
                      </a:pPr>
                      <a:r>
                        <a:t>$2.5M | $7.95 Unit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F2937"/>
                          </a:solidFill>
                        </a:defRPr>
                      </a:pPr>
                      <a:r>
                        <a:t>Dallas Protects 31% Margin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035040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991B1B"/>
                </a:solidFill>
                <a:latin typeface="Georgia"/>
              </a:defRPr>
            </a:pPr>
            <a:r>
              <a:t>CRITICAL LIMITATION &amp; MONITORING: Texas HB 2127 municipal preemption litigation requires ongoing tracking of Dallas city council ordinances regarding local courier curb loading zones.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B5563"/>
                </a:solidFill>
                <a:latin typeface="Georgia"/>
              </a:defRPr>
            </a:pPr>
            <a:r>
              <a:t>PART I // SLIDE 3: RISK GOVERNANCE &amp; MITIGATION</a:t>
            </a:r>
          </a:p>
          <a:p>
            <a:pPr>
              <a:defRPr sz="1900" b="1">
                <a:solidFill>
                  <a:srgbClr val="111827"/>
                </a:solidFill>
                <a:latin typeface="Georgia"/>
              </a:defRPr>
            </a:pPr>
            <a:r>
              <a:t>Top 3 Regulatory Risks and Actionable Mitigation Strategies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356616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050" b="1">
                <a:solidFill>
                  <a:srgbClr val="111827"/>
                </a:solidFill>
                <a:latin typeface="Georgia"/>
              </a:defRPr>
            </a:pPr>
            <a:r>
              <a:t>RISK 1: Municipal Preemption Uncertainty (Texas HB 2127)</a:t>
            </a:r>
          </a:p>
          <a:p>
            <a:pPr>
              <a:spcBef>
                <a:spcPts val="600"/>
              </a:spcBef>
              <a:defRPr sz="900" b="1">
                <a:solidFill>
                  <a:srgbClr val="4B5563"/>
                </a:solidFill>
                <a:latin typeface="Georgia"/>
              </a:defRPr>
            </a:pPr>
            <a:r>
              <a:t>Operational Vulnerability:</a:t>
            </a:r>
          </a:p>
          <a:p>
            <a:pPr>
              <a:spcBef>
                <a:spcPts val="200"/>
              </a:spcBef>
              <a:defRPr sz="880">
                <a:solidFill>
                  <a:srgbClr val="1F2937"/>
                </a:solidFill>
              </a:defRPr>
            </a:pPr>
            <a:r>
              <a:t>Constitutional challenges by Houston/San Antonio against HB 2127 risk partial invalidation, potentially reviving city-level courier mandates, localized paid sick leave, or commercial delivery parking restrictions in Dallas.</a:t>
            </a:r>
          </a:p>
          <a:p>
            <a:pPr>
              <a:spcBef>
                <a:spcPts val="800"/>
              </a:spcBef>
              <a:defRPr sz="900" b="1">
                <a:solidFill>
                  <a:srgbClr val="166534"/>
                </a:solidFill>
                <a:latin typeface="Georgia"/>
              </a:defRPr>
            </a:pPr>
            <a:r>
              <a:t>Actionable C-Suite Countermeasure:</a:t>
            </a:r>
          </a:p>
          <a:p>
            <a:pPr>
              <a:spcBef>
                <a:spcPts val="200"/>
              </a:spcBef>
              <a:defRPr sz="880">
                <a:solidFill>
                  <a:srgbClr val="1F2937"/>
                </a:solidFill>
              </a:defRPr>
            </a:pPr>
            <a:r>
              <a:t>Operational Mitigation Countermeasure:</a:t>
            </a:r>
            <a:br/>
            <a:r>
              <a:t>• Standardize driver agreements under the Federal Arbitration Act (FAA) with mandatory individual arbitration.</a:t>
            </a:r>
            <a:br/>
            <a:r>
              <a:t>• Embed geofenced compliance logging within the dispatch engine to dynamically adhere to local curb-space rules.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79" y="1371600"/>
            <a:ext cx="356616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050" b="1">
                <a:solidFill>
                  <a:srgbClr val="111827"/>
                </a:solidFill>
                <a:latin typeface="Georgia"/>
              </a:defRPr>
            </a:pPr>
            <a:r>
              <a:t>RISK 2: Multi-Jurisdictional Tax Audits (Florida Surtaxes &amp; LBTR)</a:t>
            </a:r>
          </a:p>
          <a:p>
            <a:pPr>
              <a:spcBef>
                <a:spcPts val="600"/>
              </a:spcBef>
              <a:defRPr sz="900" b="1">
                <a:solidFill>
                  <a:srgbClr val="4B5563"/>
                </a:solidFill>
                <a:latin typeface="Georgia"/>
              </a:defRPr>
            </a:pPr>
            <a:r>
              <a:t>Operational Vulnerability:</a:t>
            </a:r>
          </a:p>
          <a:p>
            <a:pPr>
              <a:spcBef>
                <a:spcPts val="200"/>
              </a:spcBef>
              <a:defRPr sz="880">
                <a:solidFill>
                  <a:srgbClr val="1F2937"/>
                </a:solidFill>
              </a:defRPr>
            </a:pPr>
            <a:r>
              <a:t>Expansion into Florida introduces 67 distinct county discretionary surtaxes (0.5%–1.5%) and localized municipal Local Business Tax Receipts (Fla. Stat. Ch. 205). Surtax allocation errors risk severe financial audits and statutory penalties under Fla. Stat. § 212.12.</a:t>
            </a:r>
          </a:p>
          <a:p>
            <a:pPr>
              <a:spcBef>
                <a:spcPts val="800"/>
              </a:spcBef>
              <a:defRPr sz="900" b="1">
                <a:solidFill>
                  <a:srgbClr val="166534"/>
                </a:solidFill>
                <a:latin typeface="Georgia"/>
              </a:defRPr>
            </a:pPr>
            <a:r>
              <a:t>Actionable C-Suite Countermeasure:</a:t>
            </a:r>
          </a:p>
          <a:p>
            <a:pPr>
              <a:spcBef>
                <a:spcPts val="200"/>
              </a:spcBef>
              <a:defRPr sz="880">
                <a:solidFill>
                  <a:srgbClr val="1F2937"/>
                </a:solidFill>
              </a:defRPr>
            </a:pPr>
            <a:r>
              <a:t>Operational Mitigation Countermeasure:</a:t>
            </a:r>
            <a:br/>
            <a:r>
              <a:t>• Integrate automated rooftop-level tax calculation engines (Vertex/Avalara) directly into the checkout API.</a:t>
            </a:r>
            <a:br/>
            <a:r>
              <a:t>• Centralize county-level LBTR registrations 60 days prior to regional deployment to insulate marketplace operations.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19" y="1371600"/>
            <a:ext cx="356616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050" b="1">
                <a:solidFill>
                  <a:srgbClr val="111827"/>
                </a:solidFill>
                <a:latin typeface="Georgia"/>
              </a:defRPr>
            </a:pPr>
            <a:r>
              <a:t>RISK 3: Gig Labor Scrutiny &amp; Benefit Creep (DOL Rule &amp; Prop 22)</a:t>
            </a:r>
          </a:p>
          <a:p>
            <a:pPr>
              <a:spcBef>
                <a:spcPts val="600"/>
              </a:spcBef>
              <a:defRPr sz="900" b="1">
                <a:solidFill>
                  <a:srgbClr val="4B5563"/>
                </a:solidFill>
                <a:latin typeface="Georgia"/>
              </a:defRPr>
            </a:pPr>
            <a:r>
              <a:t>Operational Vulnerability:</a:t>
            </a:r>
          </a:p>
          <a:p>
            <a:pPr>
              <a:spcBef>
                <a:spcPts val="200"/>
              </a:spcBef>
              <a:defRPr sz="880">
                <a:solidFill>
                  <a:srgbClr val="1F2937"/>
                </a:solidFill>
              </a:defRPr>
            </a:pPr>
            <a:r>
              <a:t>Federal Department of Labor 2024 independent contractor multi-factor rules and state legislative copycat efforts threaten 1099 status, risking forced employee reclassification and retroactive workers' compensation liabilities.</a:t>
            </a:r>
          </a:p>
          <a:p>
            <a:pPr>
              <a:spcBef>
                <a:spcPts val="800"/>
              </a:spcBef>
              <a:defRPr sz="900" b="1">
                <a:solidFill>
                  <a:srgbClr val="166534"/>
                </a:solidFill>
                <a:latin typeface="Georgia"/>
              </a:defRPr>
            </a:pPr>
            <a:r>
              <a:t>Actionable C-Suite Countermeasure:</a:t>
            </a:r>
          </a:p>
          <a:p>
            <a:pPr>
              <a:spcBef>
                <a:spcPts val="200"/>
              </a:spcBef>
              <a:defRPr sz="880">
                <a:solidFill>
                  <a:srgbClr val="1F2937"/>
                </a:solidFill>
              </a:defRPr>
            </a:pPr>
            <a:r>
              <a:t>Operational Mitigation Countermeasure:</a:t>
            </a:r>
            <a:br/>
            <a:r>
              <a:t>• Enforce strict algorithmic independence: zero mandatory shift scheduling, unrestricted multi-apping freedom, and removal of order rejection penalties.</a:t>
            </a:r>
            <a:br/>
            <a:r>
              <a:t>• Provide clear per-trip earnings transparency before driver acceptance.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B5563"/>
                </a:solidFill>
                <a:latin typeface="Georgia"/>
              </a:defRPr>
            </a:pPr>
            <a:r>
              <a:t>PART II // METHODOLOGY SUMMARY &amp; AUDIT TRAIL</a:t>
            </a:r>
          </a:p>
          <a:p>
            <a:pPr>
              <a:defRPr sz="1900" b="1">
                <a:solidFill>
                  <a:srgbClr val="111827"/>
                </a:solidFill>
                <a:latin typeface="Georgia"/>
              </a:defRPr>
            </a:pPr>
            <a:r>
              <a:t>Forensic VERA Regulatory Verification Protocol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265176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150" b="1">
                <a:solidFill>
                  <a:srgbClr val="111827"/>
                </a:solidFill>
                <a:latin typeface="Georgia"/>
              </a:defRPr>
            </a:pPr>
            <a:r>
              <a:t>V — Verify the Source</a:t>
            </a:r>
          </a:p>
          <a:p>
            <a:pPr>
              <a:spcBef>
                <a:spcPts val="800"/>
              </a:spcBef>
              <a:defRPr sz="919">
                <a:solidFill>
                  <a:srgbClr val="1F2937"/>
                </a:solidFill>
              </a:defRPr>
            </a:pPr>
            <a:r>
              <a:t>Traced claims directly to authoritative state .gov repositories, state legislative statute archives, and published court dockets. Prohibited reliance on ungrounded AI assertions or secondary summaries.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37560" y="1371600"/>
            <a:ext cx="265176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150" b="1">
                <a:solidFill>
                  <a:srgbClr val="111827"/>
                </a:solidFill>
                <a:latin typeface="Georgia"/>
              </a:defRPr>
            </a:pPr>
            <a:r>
              <a:t>E — Evaluate Currency</a:t>
            </a:r>
          </a:p>
          <a:p>
            <a:pPr>
              <a:spcBef>
                <a:spcPts val="800"/>
              </a:spcBef>
              <a:defRPr sz="919">
                <a:solidFill>
                  <a:srgbClr val="1F2937"/>
                </a:solidFill>
              </a:defRPr>
            </a:pPr>
            <a:r>
              <a:t>Cross-checked 2024–2026 statutory amendments, California Supreme Court rulings (Castellanos, June 2024), and current legislative sessions to eliminate stale LLM training 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79" y="1371600"/>
            <a:ext cx="265176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150" b="1">
                <a:solidFill>
                  <a:srgbClr val="111827"/>
                </a:solidFill>
                <a:latin typeface="Georgia"/>
              </a:defRPr>
            </a:pPr>
            <a:r>
              <a:t>R — Reference the Primary</a:t>
            </a:r>
          </a:p>
          <a:p>
            <a:pPr>
              <a:spcBef>
                <a:spcPts val="800"/>
              </a:spcBef>
              <a:defRPr sz="919">
                <a:solidFill>
                  <a:srgbClr val="1F2937"/>
                </a:solidFill>
              </a:defRPr>
            </a:pPr>
            <a:r>
              <a:t>Replaced generic claims with exact statutory citations (Tex. Lab. Code § 201.041, Cal. Bus. &amp; Prof. Code § 7451, Fla. Stat. § 443.036). Created verifiable legal paper trails for C-suite governance.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15399" y="1371600"/>
            <a:ext cx="265176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150" b="1">
                <a:solidFill>
                  <a:srgbClr val="111827"/>
                </a:solidFill>
                <a:latin typeface="Georgia"/>
              </a:defRPr>
            </a:pPr>
            <a:r>
              <a:t>A — Assess Jurisdiction</a:t>
            </a:r>
          </a:p>
          <a:p>
            <a:pPr>
              <a:spcBef>
                <a:spcPts val="800"/>
              </a:spcBef>
              <a:defRPr sz="919">
                <a:solidFill>
                  <a:srgbClr val="1F2937"/>
                </a:solidFill>
              </a:defRPr>
            </a:pPr>
            <a:r>
              <a:t>Distinguished statewide statutes from municipal ordinances across Austin, Dallas, Miami, and San Francisco. Monitored active preemption disputes (Texas HB 2127) to isolate municipal risk.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